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4630400" cy="640080"/>
          </a:xfrm>
          <a:prstGeom prst="round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408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Semantic LiDAR–Camera Fusion Pipeline for UGV Terrain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13232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0" b="1">
                <a:solidFill>
                  <a:srgbClr val="1E3250"/>
                </a:solidFill>
              </a:rPr>
              <a:t>① Data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713232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0" b="1">
                <a:solidFill>
                  <a:srgbClr val="1E3250"/>
                </a:solidFill>
              </a:rPr>
              <a:t>② Pre-processing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19" y="713232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0" b="1">
                <a:solidFill>
                  <a:srgbClr val="1E3250"/>
                </a:solidFill>
              </a:rPr>
              <a:t>③ Semantic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59" y="713232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0" b="1">
                <a:solidFill>
                  <a:srgbClr val="1E3250"/>
                </a:solidFill>
              </a:rPr>
              <a:t>④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51560"/>
            <a:ext cx="2011680" cy="658368"/>
          </a:xfrm>
          <a:prstGeom prst="roundRect">
            <a:avLst/>
          </a:prstGeom>
          <a:solidFill>
            <a:srgbClr val="2A6EA0"/>
          </a:solidFill>
          <a:ln w="19050">
            <a:solidFill>
              <a:srgbClr val="02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RGB Camera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Raw image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051560"/>
            <a:ext cx="2011680" cy="658368"/>
          </a:xfrm>
          <a:prstGeom prst="roundRect">
            <a:avLst/>
          </a:prstGeom>
          <a:solidFill>
            <a:srgbClr val="A0521E"/>
          </a:solidFill>
          <a:ln w="19050">
            <a:solidFill>
              <a:srgbClr val="782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Semantic LiDAR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UE packed RGB labels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658368"/>
            <a:ext cx="19050" cy="7315200"/>
          </a:xfrm>
          <a:prstGeom prst="rect">
            <a:avLst/>
          </a:prstGeom>
          <a:solidFill>
            <a:srgbClr val="B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658368"/>
            <a:ext cx="19050" cy="7315200"/>
          </a:xfrm>
          <a:prstGeom prst="rect">
            <a:avLst/>
          </a:prstGeom>
          <a:solidFill>
            <a:srgbClr val="B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01400" y="658368"/>
            <a:ext cx="19050" cy="7315200"/>
          </a:xfrm>
          <a:prstGeom prst="rect">
            <a:avLst/>
          </a:prstGeom>
          <a:solidFill>
            <a:srgbClr val="B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051560"/>
            <a:ext cx="2011680" cy="658368"/>
          </a:xfrm>
          <a:prstGeom prst="roundRect">
            <a:avLst/>
          </a:prstGeom>
          <a:solidFill>
            <a:srgbClr val="2E7D32"/>
          </a:solidFill>
          <a:ln w="19050">
            <a:solidFill>
              <a:srgbClr val="065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GANav Model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MiT-B0 + PSA decode 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051560"/>
            <a:ext cx="2011680" cy="658368"/>
          </a:xfrm>
          <a:prstGeom prst="roundRect">
            <a:avLst/>
          </a:prstGeom>
          <a:solidFill>
            <a:srgbClr val="7B469B"/>
          </a:solidFill>
          <a:ln w="19050">
            <a:solidFill>
              <a:srgbClr val="531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Coordinate Transform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P_cam = R·P_lidar + 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240280"/>
            <a:ext cx="2011680" cy="658368"/>
          </a:xfrm>
          <a:prstGeom prst="roundRect">
            <a:avLst/>
          </a:prstGeom>
          <a:solidFill>
            <a:srgbClr val="388E3C"/>
          </a:solidFill>
          <a:ln w="19050">
            <a:solidFill>
              <a:srgbClr val="106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Segmentation Mask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6-class pixel labels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240280"/>
            <a:ext cx="2011680" cy="658368"/>
          </a:xfrm>
          <a:prstGeom prst="roundRect">
            <a:avLst/>
          </a:prstGeom>
          <a:solidFill>
            <a:srgbClr val="8E56B4"/>
          </a:solidFill>
          <a:ln w="19050">
            <a:solidFill>
              <a:srgbClr val="66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Projected Points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u = fx·(X/Z)+cx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108960"/>
            <a:ext cx="2011680" cy="530352"/>
          </a:xfrm>
          <a:prstGeom prst="roundRect">
            <a:avLst/>
          </a:prstGeom>
          <a:solidFill>
            <a:srgbClr val="AA6EC8"/>
          </a:solidFill>
          <a:ln w="19050">
            <a:solidFill>
              <a:srgbClr val="82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950">
                <a:solidFill>
                  <a:srgbClr val="FFFFFF"/>
                </a:solidFill>
              </a:rPr>
              <a:t>Depth Filter</a:t>
            </a:r>
          </a:p>
          <a:p>
            <a:pPr algn="ctr"/>
            <a:r>
              <a:rPr sz="850" i="1">
                <a:solidFill>
                  <a:srgbClr val="E6E6E6"/>
                </a:solidFill>
              </a:rPr>
              <a:t>0.5 m &lt; Z &lt; 50 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19" y="3977639"/>
            <a:ext cx="2560320" cy="1005840"/>
          </a:xfrm>
          <a:prstGeom prst="roundRect">
            <a:avLst/>
          </a:prstGeom>
          <a:solidFill>
            <a:srgbClr val="B71C1C"/>
          </a:solidFill>
          <a:ln w="31750">
            <a:solidFill>
              <a:srgbClr val="8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Semantic Fusion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Semantic colour assignment
to projected 3-D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84280" y="2651760"/>
            <a:ext cx="2743200" cy="868680"/>
          </a:xfrm>
          <a:prstGeom prst="roundRect">
            <a:avLst/>
          </a:prstGeom>
          <a:solidFill>
            <a:srgbClr val="0D47A1"/>
          </a:solidFill>
          <a:ln w="19050">
            <a:solidFill>
              <a:srgbClr val="001F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Semantic Overlay Image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Camera frame with coloured LiDAR dots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384280" y="4297680"/>
            <a:ext cx="2743200" cy="868680"/>
          </a:xfrm>
          <a:prstGeom prst="roundRect">
            <a:avLst/>
          </a:prstGeom>
          <a:solidFill>
            <a:srgbClr val="006064"/>
          </a:solidFill>
          <a:ln w="19050">
            <a:solidFill>
              <a:srgbClr val="003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FFFFFF"/>
                </a:solidFill>
              </a:rPr>
              <a:t>Semantic Point Cloud</a:t>
            </a:r>
          </a:p>
          <a:p>
            <a:pPr algn="ctr"/>
            <a:r>
              <a:rPr sz="900" i="1">
                <a:solidFill>
                  <a:srgbClr val="E6E6E6"/>
                </a:solidFill>
              </a:rPr>
              <a:t>3-D cloud coloured by terrain 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384280" y="5532120"/>
            <a:ext cx="2743200" cy="1554480"/>
          </a:xfrm>
          <a:prstGeom prst="roundRect">
            <a:avLst/>
          </a:prstGeom>
          <a:solidFill>
            <a:srgbClr val="323C4B"/>
          </a:solidFill>
          <a:ln w="15240">
            <a:solidFill>
              <a:srgbClr val="0A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FFFFFF"/>
                </a:solidFill>
              </a:rPr>
              <a:t>Terrain Classes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48872" y="6035040"/>
            <a:ext cx="731520" cy="320040"/>
          </a:xfrm>
          <a:prstGeom prst="roundRect">
            <a:avLst/>
          </a:prstGeom>
          <a:solidFill>
            <a:srgbClr val="64A0DC"/>
          </a:solidFill>
          <a:ln w="10160">
            <a:solidFill>
              <a:srgbClr val="3C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</a:rPr>
              <a:t>Sky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417552" y="6035040"/>
            <a:ext cx="731520" cy="320040"/>
          </a:xfrm>
          <a:prstGeom prst="roundRect">
            <a:avLst/>
          </a:prstGeom>
          <a:solidFill>
            <a:srgbClr val="228B22"/>
          </a:solidFill>
          <a:ln w="10160">
            <a:solidFill>
              <a:srgbClr val="006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</a:rPr>
              <a:t>Tree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86232" y="6035040"/>
            <a:ext cx="731520" cy="320040"/>
          </a:xfrm>
          <a:prstGeom prst="roundRect">
            <a:avLst/>
          </a:prstGeom>
          <a:solidFill>
            <a:srgbClr val="6B8E23"/>
          </a:solidFill>
          <a:ln w="10160">
            <a:solidFill>
              <a:srgbClr val="43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</a:rPr>
              <a:t>Bush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548872" y="6510528"/>
            <a:ext cx="731520" cy="320040"/>
          </a:xfrm>
          <a:prstGeom prst="roundRect">
            <a:avLst/>
          </a:prstGeom>
          <a:solidFill>
            <a:srgbClr val="8B642B"/>
          </a:solidFill>
          <a:ln w="10160">
            <a:solidFill>
              <a:srgbClr val="633C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</a:rPr>
              <a:t>Ground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17552" y="6510528"/>
            <a:ext cx="731520" cy="320040"/>
          </a:xfrm>
          <a:prstGeom prst="roundRect">
            <a:avLst/>
          </a:prstGeom>
          <a:solidFill>
            <a:srgbClr val="A0A03C"/>
          </a:solidFill>
          <a:ln w="10160">
            <a:solidFill>
              <a:srgbClr val="78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</a:rPr>
              <a:t>Obstacle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86232" y="6510528"/>
            <a:ext cx="731520" cy="320040"/>
          </a:xfrm>
          <a:prstGeom prst="roundRect">
            <a:avLst/>
          </a:prstGeom>
          <a:solidFill>
            <a:srgbClr val="B43C3C"/>
          </a:solidFill>
          <a:ln w="10160">
            <a:solidFill>
              <a:srgbClr val="8C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800">
                <a:solidFill>
                  <a:srgbClr val="FFFFFF"/>
                </a:solidFill>
              </a:rPr>
              <a:t>Rock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2286000"/>
            <a:ext cx="2011680" cy="530352"/>
          </a:xfrm>
          <a:prstGeom prst="roundRect">
            <a:avLst/>
          </a:prstGeom>
          <a:solidFill>
            <a:srgbClr val="C36E28"/>
          </a:solidFill>
          <a:ln w="19050">
            <a:solidFill>
              <a:srgbClr val="9B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0" sz="950">
                <a:solidFill>
                  <a:srgbClr val="FFFFFF"/>
                </a:solidFill>
              </a:rPr>
              <a:t>UE Semantic Labels</a:t>
            </a:r>
          </a:p>
          <a:p>
            <a:pPr algn="ctr"/>
            <a:r>
              <a:rPr sz="850" i="1">
                <a:solidFill>
                  <a:srgbClr val="E6E6E6"/>
                </a:solidFill>
              </a:rPr>
              <a:t>Rock / Ground / Vegetation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40280" y="1380744.0"/>
            <a:ext cx="2423160" cy="0.0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34840" y="1380744.0"/>
            <a:ext cx="2377440" cy="0.0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669280.0" y="1709928"/>
            <a:ext cx="0.0" cy="530352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18120.0" y="1709928"/>
            <a:ext cx="0.0" cy="530352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18120.0" y="2898648"/>
            <a:ext cx="0.0" cy="210312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429000.0" y="1709928"/>
            <a:ext cx="0.0" cy="576072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69280.0" y="2898648"/>
            <a:ext cx="2194559.0" cy="1078991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18120.0" y="3639312"/>
            <a:ext cx="685799.0" cy="338327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464039.0" y="3086100.0"/>
            <a:ext cx="1920241.0" cy="1165859.0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64039.0" y="4709159.0"/>
            <a:ext cx="1920241.0" cy="22861.0"/>
          </a:xfrm>
          <a:prstGeom prst="line">
            <a:avLst/>
          </a:prstGeom>
          <a:ln w="25400">
            <a:solidFill>
              <a:srgbClr val="3C3C3C"/>
            </a:solidFill>
            <a:tailEnd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377440" y="124358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5A5A5A"/>
                </a:solidFill>
              </a:rPr>
              <a:t>image frames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124358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5A5A5A"/>
                </a:solidFill>
              </a:rPr>
              <a:t>UE bag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343814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5A5A5A"/>
                </a:solidFill>
              </a:rPr>
              <a:t>filtered pts (u,v,Z)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26694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5A5A5A"/>
                </a:solidFill>
              </a:rPr>
              <a:t>2-D overlay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58114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i="1">
                <a:solidFill>
                  <a:srgbClr val="5A5A5A"/>
                </a:solidFill>
              </a:rPr>
              <a:t>3-D coloured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7955279"/>
            <a:ext cx="14630400" cy="274320"/>
          </a:xfrm>
          <a:prstGeom prst="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7973568"/>
            <a:ext cx="1371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C8D2E6"/>
                </a:solidFill>
              </a:rPr>
              <a:t>AVMI UGV Dataset  |  Sensor fusion: Unreal Engine calibration  |  Segmentation: GANav (MiT-B0 + PSA)  |  Output: 6-class semantic overlay + coloured point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